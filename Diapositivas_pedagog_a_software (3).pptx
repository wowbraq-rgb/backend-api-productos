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presencial de repaso integrador. Hoy se junta todo: DOM, fetch, servidor Node y Express. Estaciones fijas, un mentor por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objetivos. El quinto es el que sostiene la sesión: todo se conecta con el proyecto de emprendimiento de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180 minutos: 165 de bloques + 15 de holgura repartida en check-in y cierre. Esa holgura es para dudas puntuales, no para alargar bloques.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solo para mentores: no proyectarla a estudiantes. El orden de recortes es exactamente ese. MongoDB no se toca hoy — se ve en la Semana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Cada mentor recorre su sala; esto no es contenido, es diagnóstico de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sala preguntando estudiante por estudiante o equipo por equipo. Los issues de GitHub se anotan y se agendan como Checkpoint entre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Esto es repaso: ya vieron DOM y eventos en S12. La meta es aplicarlo a algo completo y funcional, no explicar desde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minutos. Las tres preguntas se responden en voz alta desde la sala. La del preventDefault es la que más se olvida.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estudiante construye sobre su propio HTML/CSS existente. El trim() en el if es la validación de input vacío: señalarla.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reto real es que no se llame to-do list: lista de productos, pedidos pendientes, tareas del equipo. Lo que aplique a su emprendimiento.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 relámpago en parejas: 3 minutos para romper el to-do list del compañero. Se socializan 2-3 hallazgos en plenaria.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Repaso conceptual rápido y aplicación directa: consumir una API pública y pintar el dato en el DOM del Bloque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segunda pregunta es la clave conceptual: una promesa no es el dato, es el compromiso de que va a llegar.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await: uno para la respuesta y otro para el .json(). El try/catch no es opcional: la API puede fallar.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diagnóstico. La tercera columna es literal: se guía con pregunta, no se da la respuesta directa.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Cambio de lado: lo que corría en el navegador ahora lo genera el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navegador al servidor. La primera pregunta desarma un supuesto: hasta ahora abrían un archivo local, no había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en vivo: levantar el servidor, abrir localhost:3000, y luego cambiar el array para que vean que la página cambia sin tocar el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Cierre técnico: del servidor a mano a Express, y de ahí a una API REST básica.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pregunta se responde con lo que acabaron de sentir en el Bloque 3. La segunda pide definición con sus propias palabras: no corregirla de entrada.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express.json() es el middleware que permite leer req.body: sin él llega undefined. Señalar el 201 al crear y el 204 al eliminar.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 integrador: sobre el mismo array del Bloque 3. Si el tiempo aprieta, GET y POST son suficientes; PUT y DELETE se van para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los cuatro bloques en una frase cada uno y cerrar con la pregunta de plenaria. La próxima pieza es MongoDB, en la Semana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autónoma sugerida. Recordar que MongoDB llega en la Semana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2500"/>
            <a:ext cx="1860798" cy="53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904315" y="952500"/>
            <a:ext cx="597430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156" kern="0" dirty="0">
                <a:solidFill>
                  <a:srgbClr val="B8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JÓVENES CREATIVOS 2026 · SESIÓN 17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952500" y="2841724"/>
            <a:ext cx="1466850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37"/>
              </a:lnSpc>
              <a:buNone/>
            </a:pPr>
            <a:r>
              <a:rPr lang="en-US" sz="11250" spc="-225" kern="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DOM a API REST</a:t>
            </a:r>
            <a:endParaRPr lang="en-US" sz="11250" dirty="0"/>
          </a:p>
        </p:txBody>
      </p:sp>
      <p:sp>
        <p:nvSpPr>
          <p:cNvPr id="5" name="Text 2"/>
          <p:cNvSpPr/>
          <p:nvPr/>
        </p:nvSpPr>
        <p:spPr>
          <a:xfrm>
            <a:off x="952500" y="4556224"/>
            <a:ext cx="11772900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00"/>
              </a:lnSpc>
              <a:buNone/>
            </a:pPr>
            <a:r>
              <a:rPr lang="en-US" sz="3300" dirty="0">
                <a:solidFill>
                  <a:srgbClr val="B8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presencial de repaso integrador · Sábado 26 de septiembre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952500" y="5988546"/>
            <a:ext cx="2095500" cy="114300"/>
          </a:xfrm>
          <a:prstGeom prst="rect">
            <a:avLst/>
          </a:prstGeom>
          <a:solidFill>
            <a:srgbClr val="FF7E08"/>
          </a:solidFill>
          <a:ln/>
        </p:spPr>
      </p:sp>
      <p:sp>
        <p:nvSpPr>
          <p:cNvPr id="7" name="Shape 4"/>
          <p:cNvSpPr/>
          <p:nvPr/>
        </p:nvSpPr>
        <p:spPr>
          <a:xfrm>
            <a:off x="952500" y="7458670"/>
            <a:ext cx="16383000" cy="9525"/>
          </a:xfrm>
          <a:prstGeom prst="rect">
            <a:avLst/>
          </a:prstGeom>
          <a:solidFill>
            <a:srgbClr val="443E35"/>
          </a:solidFill>
          <a:ln/>
        </p:spPr>
      </p:sp>
      <p:sp>
        <p:nvSpPr>
          <p:cNvPr id="8" name="Text 5"/>
          <p:cNvSpPr/>
          <p:nvPr/>
        </p:nvSpPr>
        <p:spPr>
          <a:xfrm>
            <a:off x="952500" y="7849195"/>
            <a:ext cx="41281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2500" y="8298656"/>
            <a:ext cx="3865436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dinámico + Backend: APIs y base de datos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5162550" y="7849195"/>
            <a:ext cx="41281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162550" y="8298656"/>
            <a:ext cx="386543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Presencial · estaciones fijas, un mentor por sala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9372600" y="7849195"/>
            <a:ext cx="41281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372600" y="8298656"/>
            <a:ext cx="412813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horas (180 min)</a:t>
            </a:r>
            <a:endParaRPr lang="en-US" sz="2175" dirty="0"/>
          </a:p>
        </p:txBody>
      </p:sp>
      <p:sp>
        <p:nvSpPr>
          <p:cNvPr id="14" name="Text 11"/>
          <p:cNvSpPr/>
          <p:nvPr/>
        </p:nvSpPr>
        <p:spPr>
          <a:xfrm>
            <a:off x="13582650" y="7849195"/>
            <a:ext cx="41281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PREVIO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582650" y="8298656"/>
            <a:ext cx="3865436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48"/>
              </a:lnSpc>
              <a:buNone/>
            </a:pPr>
            <a:r>
              <a:rPr lang="en-US" sz="2175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 DOM · S14 asincronía · S15 rutas Node · S16 Express</a:t>
            </a:r>
            <a:endParaRPr lang="en-US" sz="21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FINALIZAR, CADA ESTUDIANTE DEBE PODER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59111"/>
            <a:ext cx="1802130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03"/>
              </a:lnSpc>
              <a:buNone/>
            </a:pPr>
            <a:r>
              <a:rPr lang="en-US" sz="5700" spc="-11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la sesión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52500" y="2692747"/>
            <a:ext cx="685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2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828800" y="2692747"/>
            <a:ext cx="7181469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Manipular el DOM y formularios para construir una interfaz interactiva funcional sin recargar la página.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86900" y="2692747"/>
            <a:ext cx="685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2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363200" y="2692747"/>
            <a:ext cx="7181469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Consumir una API pública con fetch usando async/await, manejando la espera y los datos correctamente.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" y="4345930"/>
            <a:ext cx="685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2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828800" y="4345930"/>
            <a:ext cx="7181469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qué hace un servidor Node.js simple y cómo renderiza una página desde el backend.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486900" y="4345930"/>
            <a:ext cx="685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2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363200" y="4345930"/>
            <a:ext cx="7181469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rutas en Express, usar middleware y responder en formato JSON.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" y="5587752"/>
            <a:ext cx="685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2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828800" y="5587752"/>
            <a:ext cx="7181469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cada uno de estos bloques con su propio proyecto de emprendimiento digital.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03"/>
              </a:lnSpc>
              <a:buNone/>
            </a:pPr>
            <a:r>
              <a:rPr lang="en-US" sz="5700" spc="-11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483197"/>
            <a:ext cx="1034415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1976586"/>
            <a:ext cx="106544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601450" y="2483197"/>
            <a:ext cx="161925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11601450" y="1976586"/>
            <a:ext cx="16954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525500" y="2483197"/>
            <a:ext cx="38100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0" y="1976586"/>
            <a:ext cx="3924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417094"/>
            <a:ext cx="103441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730847"/>
            <a:ext cx="10654475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 Check-in de avance de proyecto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11601450" y="3417094"/>
            <a:ext cx="16192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12" name="Text 10"/>
          <p:cNvSpPr/>
          <p:nvPr/>
        </p:nvSpPr>
        <p:spPr>
          <a:xfrm>
            <a:off x="11601450" y="2730847"/>
            <a:ext cx="169545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13525500" y="3417094"/>
            <a:ext cx="381000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0" y="2730847"/>
            <a:ext cx="392430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952500" y="4341465"/>
            <a:ext cx="103441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3655219"/>
            <a:ext cx="10654475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Repaso DOM/eventos + to-do list</a:t>
            </a:r>
            <a:endParaRPr lang="en-US" sz="2325" dirty="0"/>
          </a:p>
        </p:txBody>
      </p:sp>
      <p:sp>
        <p:nvSpPr>
          <p:cNvPr id="17" name="Shape 15"/>
          <p:cNvSpPr/>
          <p:nvPr/>
        </p:nvSpPr>
        <p:spPr>
          <a:xfrm>
            <a:off x="11601450" y="4341465"/>
            <a:ext cx="16192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1450" y="3655219"/>
            <a:ext cx="169545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b="1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</a:t>
            </a:r>
            <a:endParaRPr lang="en-US" sz="2325" dirty="0"/>
          </a:p>
        </p:txBody>
      </p:sp>
      <p:sp>
        <p:nvSpPr>
          <p:cNvPr id="19" name="Shape 17"/>
          <p:cNvSpPr/>
          <p:nvPr/>
        </p:nvSpPr>
        <p:spPr>
          <a:xfrm>
            <a:off x="13525500" y="4341465"/>
            <a:ext cx="381000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20" name="Text 18"/>
          <p:cNvSpPr/>
          <p:nvPr/>
        </p:nvSpPr>
        <p:spPr>
          <a:xfrm>
            <a:off x="13525500" y="3655219"/>
            <a:ext cx="392430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activo + práctica</a:t>
            </a:r>
            <a:endParaRPr lang="en-US" sz="2325" dirty="0"/>
          </a:p>
        </p:txBody>
      </p:sp>
      <p:sp>
        <p:nvSpPr>
          <p:cNvPr id="21" name="Shape 19"/>
          <p:cNvSpPr/>
          <p:nvPr/>
        </p:nvSpPr>
        <p:spPr>
          <a:xfrm>
            <a:off x="952500" y="5265837"/>
            <a:ext cx="103441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" y="4579590"/>
            <a:ext cx="10654475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activa dinámica</a:t>
            </a:r>
            <a:endParaRPr lang="en-US" sz="2325" dirty="0"/>
          </a:p>
        </p:txBody>
      </p:sp>
      <p:sp>
        <p:nvSpPr>
          <p:cNvPr id="23" name="Shape 21"/>
          <p:cNvSpPr/>
          <p:nvPr/>
        </p:nvSpPr>
        <p:spPr>
          <a:xfrm>
            <a:off x="11601450" y="5265837"/>
            <a:ext cx="16192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24" name="Text 22"/>
          <p:cNvSpPr/>
          <p:nvPr/>
        </p:nvSpPr>
        <p:spPr>
          <a:xfrm>
            <a:off x="11601450" y="4579590"/>
            <a:ext cx="169545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325" dirty="0"/>
          </a:p>
        </p:txBody>
      </p:sp>
      <p:sp>
        <p:nvSpPr>
          <p:cNvPr id="25" name="Shape 23"/>
          <p:cNvSpPr/>
          <p:nvPr/>
        </p:nvSpPr>
        <p:spPr>
          <a:xfrm>
            <a:off x="13525500" y="5265837"/>
            <a:ext cx="381000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26" name="Text 24"/>
          <p:cNvSpPr/>
          <p:nvPr/>
        </p:nvSpPr>
        <p:spPr>
          <a:xfrm>
            <a:off x="13525500" y="4579590"/>
            <a:ext cx="392430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Energizante</a:t>
            </a:r>
            <a:endParaRPr lang="en-US" sz="2325" dirty="0"/>
          </a:p>
        </p:txBody>
      </p:sp>
      <p:sp>
        <p:nvSpPr>
          <p:cNvPr id="27" name="Shape 25"/>
          <p:cNvSpPr/>
          <p:nvPr/>
        </p:nvSpPr>
        <p:spPr>
          <a:xfrm>
            <a:off x="952500" y="6190208"/>
            <a:ext cx="103441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28" name="Text 26"/>
          <p:cNvSpPr/>
          <p:nvPr/>
        </p:nvSpPr>
        <p:spPr>
          <a:xfrm>
            <a:off x="952500" y="5503962"/>
            <a:ext cx="10654475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Asincronía y consumo de API</a:t>
            </a:r>
            <a:endParaRPr lang="en-US" sz="2325" dirty="0"/>
          </a:p>
        </p:txBody>
      </p:sp>
      <p:sp>
        <p:nvSpPr>
          <p:cNvPr id="29" name="Shape 27"/>
          <p:cNvSpPr/>
          <p:nvPr/>
        </p:nvSpPr>
        <p:spPr>
          <a:xfrm>
            <a:off x="11601450" y="6190208"/>
            <a:ext cx="16192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30" name="Text 28"/>
          <p:cNvSpPr/>
          <p:nvPr/>
        </p:nvSpPr>
        <p:spPr>
          <a:xfrm>
            <a:off x="11601450" y="5503962"/>
            <a:ext cx="169545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2325" dirty="0"/>
          </a:p>
        </p:txBody>
      </p:sp>
      <p:sp>
        <p:nvSpPr>
          <p:cNvPr id="31" name="Shape 29"/>
          <p:cNvSpPr/>
          <p:nvPr/>
        </p:nvSpPr>
        <p:spPr>
          <a:xfrm>
            <a:off x="13525500" y="6190208"/>
            <a:ext cx="381000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32" name="Text 30"/>
          <p:cNvSpPr/>
          <p:nvPr/>
        </p:nvSpPr>
        <p:spPr>
          <a:xfrm>
            <a:off x="13525500" y="5503962"/>
            <a:ext cx="392430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Explicación + reto</a:t>
            </a:r>
            <a:endParaRPr lang="en-US" sz="2325" dirty="0"/>
          </a:p>
        </p:txBody>
      </p:sp>
      <p:sp>
        <p:nvSpPr>
          <p:cNvPr id="33" name="Shape 31"/>
          <p:cNvSpPr/>
          <p:nvPr/>
        </p:nvSpPr>
        <p:spPr>
          <a:xfrm>
            <a:off x="952500" y="7114580"/>
            <a:ext cx="103441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34" name="Text 32"/>
          <p:cNvSpPr/>
          <p:nvPr/>
        </p:nvSpPr>
        <p:spPr>
          <a:xfrm>
            <a:off x="952500" y="6428333"/>
            <a:ext cx="10654475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Node.js y npm: servidor simple</a:t>
            </a:r>
            <a:endParaRPr lang="en-US" sz="2325" dirty="0"/>
          </a:p>
        </p:txBody>
      </p:sp>
      <p:sp>
        <p:nvSpPr>
          <p:cNvPr id="35" name="Shape 33"/>
          <p:cNvSpPr/>
          <p:nvPr/>
        </p:nvSpPr>
        <p:spPr>
          <a:xfrm>
            <a:off x="11601450" y="7114580"/>
            <a:ext cx="16192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36" name="Text 34"/>
          <p:cNvSpPr/>
          <p:nvPr/>
        </p:nvSpPr>
        <p:spPr>
          <a:xfrm>
            <a:off x="11601450" y="6428333"/>
            <a:ext cx="169545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</a:t>
            </a:r>
            <a:endParaRPr lang="en-US" sz="2325" dirty="0"/>
          </a:p>
        </p:txBody>
      </p:sp>
      <p:sp>
        <p:nvSpPr>
          <p:cNvPr id="37" name="Shape 35"/>
          <p:cNvSpPr/>
          <p:nvPr/>
        </p:nvSpPr>
        <p:spPr>
          <a:xfrm>
            <a:off x="13525500" y="7114580"/>
            <a:ext cx="381000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38" name="Text 36"/>
          <p:cNvSpPr/>
          <p:nvPr/>
        </p:nvSpPr>
        <p:spPr>
          <a:xfrm>
            <a:off x="13525500" y="6428333"/>
            <a:ext cx="392430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Explicación + demo</a:t>
            </a:r>
            <a:endParaRPr lang="en-US" sz="2325" dirty="0"/>
          </a:p>
        </p:txBody>
      </p:sp>
      <p:sp>
        <p:nvSpPr>
          <p:cNvPr id="39" name="Shape 37"/>
          <p:cNvSpPr/>
          <p:nvPr/>
        </p:nvSpPr>
        <p:spPr>
          <a:xfrm>
            <a:off x="952500" y="8038951"/>
            <a:ext cx="103441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40" name="Text 38"/>
          <p:cNvSpPr/>
          <p:nvPr/>
        </p:nvSpPr>
        <p:spPr>
          <a:xfrm>
            <a:off x="952500" y="7352705"/>
            <a:ext cx="10654475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Express: rutas, middleware, JSON</a:t>
            </a:r>
            <a:endParaRPr lang="en-US" sz="2325" dirty="0"/>
          </a:p>
        </p:txBody>
      </p:sp>
      <p:sp>
        <p:nvSpPr>
          <p:cNvPr id="41" name="Shape 39"/>
          <p:cNvSpPr/>
          <p:nvPr/>
        </p:nvSpPr>
        <p:spPr>
          <a:xfrm>
            <a:off x="11601450" y="8038951"/>
            <a:ext cx="161925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42" name="Text 40"/>
          <p:cNvSpPr/>
          <p:nvPr/>
        </p:nvSpPr>
        <p:spPr>
          <a:xfrm>
            <a:off x="11601450" y="7352705"/>
            <a:ext cx="169545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b="1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</a:t>
            </a:r>
            <a:endParaRPr lang="en-US" sz="2325" dirty="0"/>
          </a:p>
        </p:txBody>
      </p:sp>
      <p:sp>
        <p:nvSpPr>
          <p:cNvPr id="43" name="Shape 41"/>
          <p:cNvSpPr/>
          <p:nvPr/>
        </p:nvSpPr>
        <p:spPr>
          <a:xfrm>
            <a:off x="13525500" y="8038951"/>
            <a:ext cx="381000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44" name="Text 42"/>
          <p:cNvSpPr/>
          <p:nvPr/>
        </p:nvSpPr>
        <p:spPr>
          <a:xfrm>
            <a:off x="13525500" y="7352705"/>
            <a:ext cx="392430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Explicación + reto guiado</a:t>
            </a:r>
            <a:endParaRPr lang="en-US" sz="2325" dirty="0"/>
          </a:p>
        </p:txBody>
      </p:sp>
      <p:sp>
        <p:nvSpPr>
          <p:cNvPr id="45" name="Text 43"/>
          <p:cNvSpPr/>
          <p:nvPr/>
        </p:nvSpPr>
        <p:spPr>
          <a:xfrm>
            <a:off x="952500" y="8277076"/>
            <a:ext cx="10654475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+ conexión a proyecto final</a:t>
            </a:r>
            <a:endParaRPr lang="en-US" sz="2325" dirty="0"/>
          </a:p>
        </p:txBody>
      </p:sp>
      <p:sp>
        <p:nvSpPr>
          <p:cNvPr id="46" name="Text 44"/>
          <p:cNvSpPr/>
          <p:nvPr/>
        </p:nvSpPr>
        <p:spPr>
          <a:xfrm>
            <a:off x="11601450" y="8277076"/>
            <a:ext cx="169545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2325" dirty="0"/>
          </a:p>
        </p:txBody>
      </p:sp>
      <p:sp>
        <p:nvSpPr>
          <p:cNvPr id="47" name="Text 45"/>
          <p:cNvSpPr/>
          <p:nvPr/>
        </p:nvSpPr>
        <p:spPr>
          <a:xfrm>
            <a:off x="13525500" y="8277076"/>
            <a:ext cx="3924300" cy="495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472"/>
              </a:lnSpc>
              <a:buNone/>
            </a:pPr>
            <a:r>
              <a:rPr lang="en-US" sz="23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23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PARA MENTORES · USO INTERNO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811"/>
            <a:ext cx="180213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61"/>
              </a:lnSpc>
              <a:buNone/>
            </a:pPr>
            <a:r>
              <a:rPr lang="en-US" sz="5400" spc="-108" kern="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 de recortes, en este orden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425303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828800" y="2425303"/>
            <a:ext cx="12281595" cy="462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37"/>
              </a:lnSpc>
              <a:buNone/>
            </a:pPr>
            <a:r>
              <a:rPr lang="en-US" sz="2475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pausa activa se acorta a 5 min o se convierte en reto asíncrono para la casa.</a:t>
            </a:r>
            <a:endParaRPr lang="en-US" sz="2475" dirty="0"/>
          </a:p>
        </p:txBody>
      </p:sp>
      <p:sp>
        <p:nvSpPr>
          <p:cNvPr id="6" name="Text 4"/>
          <p:cNvSpPr/>
          <p:nvPr/>
        </p:nvSpPr>
        <p:spPr>
          <a:xfrm>
            <a:off x="952500" y="3168253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828800" y="3168253"/>
            <a:ext cx="15971901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37"/>
              </a:lnSpc>
              <a:buNone/>
            </a:pPr>
            <a:r>
              <a:rPr lang="en-US" sz="2475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1: el mínimo es agregar y eliminar tareas. Marcar completada y editar quedan como extendido opcional, nunca como bloqueo.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952500" y="4264521"/>
            <a:ext cx="6477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828800" y="4264521"/>
            <a:ext cx="15971901" cy="886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237"/>
              </a:lnSpc>
              <a:buNone/>
            </a:pPr>
            <a:r>
              <a:rPr lang="en-US" sz="2475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4: prioriza GET y POST funcionando sobre el CRUD completo. PUT y DELETE quedan como reto para la semana.</a:t>
            </a:r>
            <a:endParaRPr lang="en-US" sz="2475" dirty="0"/>
          </a:p>
        </p:txBody>
      </p:sp>
      <p:sp>
        <p:nvSpPr>
          <p:cNvPr id="10" name="Shape 8"/>
          <p:cNvSpPr/>
          <p:nvPr/>
        </p:nvSpPr>
        <p:spPr>
          <a:xfrm>
            <a:off x="952500" y="7471767"/>
            <a:ext cx="16383000" cy="2053233"/>
          </a:xfrm>
          <a:prstGeom prst="rect">
            <a:avLst/>
          </a:prstGeom>
          <a:solidFill>
            <a:srgbClr val="FF7E08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7852767"/>
            <a:ext cx="170154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4D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 ALCANCE HOY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09700" y="8321278"/>
            <a:ext cx="15932658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y Mongoose se ven en la Semana 18. Si alguien pregunta, indícale que llega pronto — no lo expliques aquí. Diferencia el ritmo solo por avance individual, nunca por grupo.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989487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156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0 · 15 MIN · APERTURA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4754314"/>
            <a:ext cx="1571625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14"/>
              </a:lnSpc>
              <a:buNone/>
            </a:pPr>
            <a:r>
              <a:rPr lang="en-US" sz="8250" spc="-165" kern="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de avance de proyecto</a:t>
            </a:r>
            <a:endParaRPr lang="en-US" sz="8250" dirty="0"/>
          </a:p>
        </p:txBody>
      </p:sp>
      <p:sp>
        <p:nvSpPr>
          <p:cNvPr id="4" name="Shape 2"/>
          <p:cNvSpPr/>
          <p:nvPr/>
        </p:nvSpPr>
        <p:spPr>
          <a:xfrm>
            <a:off x="952500" y="6183064"/>
            <a:ext cx="2095500" cy="114300"/>
          </a:xfrm>
          <a:prstGeom prst="rect">
            <a:avLst/>
          </a:prstGeom>
          <a:solidFill>
            <a:srgbClr val="FF7E0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0 · 15 MIN · RECORRIDO POR LA SALA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59111"/>
            <a:ext cx="1802130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03"/>
              </a:lnSpc>
              <a:buNone/>
            </a:pPr>
            <a:r>
              <a:rPr lang="en-US" sz="5700" spc="-11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entrar en contenido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654647"/>
            <a:ext cx="57150" cy="445740"/>
          </a:xfrm>
          <a:prstGeom prst="rect">
            <a:avLst/>
          </a:prstGeom>
          <a:solidFill>
            <a:srgbClr val="FF7E08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2654647"/>
            <a:ext cx="1765935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parte de tu proyecto vas a aplicar lo de hoy: formularios, consumo de API, servidor propio?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" y="3367088"/>
            <a:ext cx="57150" cy="891480"/>
          </a:xfrm>
          <a:prstGeom prst="rect">
            <a:avLst/>
          </a:prstGeom>
          <a:solidFill>
            <a:srgbClr val="FF7E08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3367088"/>
            <a:ext cx="1651254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algo del repositorio de GitHub que no haya quedado subido o funcionando desde la sesión pasada?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4525268"/>
            <a:ext cx="57150" cy="445740"/>
          </a:xfrm>
          <a:prstGeom prst="rect">
            <a:avLst/>
          </a:prstGeom>
          <a:solidFill>
            <a:srgbClr val="FF7E08"/>
          </a:solidFill>
          <a:ln/>
        </p:spPr>
      </p:sp>
      <p:sp>
        <p:nvSpPr>
          <p:cNvPr id="9" name="Text 7"/>
          <p:cNvSpPr/>
          <p:nvPr/>
        </p:nvSpPr>
        <p:spPr>
          <a:xfrm>
            <a:off x="1314450" y="4525268"/>
            <a:ext cx="17659350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bloqueo tienes ahora mismo que te esté frenando?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2500" y="7376517"/>
            <a:ext cx="16383000" cy="214848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409700" y="7795617"/>
            <a:ext cx="170154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PARA MENTORES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09700" y="8283178"/>
            <a:ext cx="15932658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detectas un issue técnico de GitHub durante el check-in, no lo resuelvas en vivo: anótalo y agenda una mentoría entre semana para resolverlo con calma.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465612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156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40 MIN · REPASO ACTIVO + PRÁCTICA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4230439"/>
            <a:ext cx="14716125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14"/>
              </a:lnSpc>
              <a:buNone/>
            </a:pPr>
            <a:r>
              <a:rPr lang="en-US" sz="8250" spc="-165" kern="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Repaso DOM/eventos y to-do list</a:t>
            </a:r>
            <a:endParaRPr lang="en-US" sz="8250" dirty="0"/>
          </a:p>
        </p:txBody>
      </p:sp>
      <p:sp>
        <p:nvSpPr>
          <p:cNvPr id="4" name="Shape 2"/>
          <p:cNvSpPr/>
          <p:nvPr/>
        </p:nvSpPr>
        <p:spPr>
          <a:xfrm>
            <a:off x="952500" y="6706939"/>
            <a:ext cx="2095500" cy="114300"/>
          </a:xfrm>
          <a:prstGeom prst="rect">
            <a:avLst/>
          </a:prstGeom>
          <a:solidFill>
            <a:srgbClr val="FF7E0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7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475012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spc="1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5 MIN · PREGUNTAS SOCRÁTICAS DE APERTURA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3316039"/>
            <a:ext cx="1589341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spc="-9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quiero agregar un elemento nuevo a la página sin recargarla, ¿qué método del DOM me sirve?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952500" y="5030539"/>
            <a:ext cx="1589341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spc="-9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diferencia hay entre escuchar un evento en un botón y escucharlo en un formulario?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52500" y="6745039"/>
            <a:ext cx="1589341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spc="-9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uso preventDefault() en un formulario, ¿qué pasa cuando el usuario le da “enviar”?</a:t>
            </a:r>
            <a:endParaRPr lang="en-US" sz="4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10858500" cy="78200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238250"/>
            <a:ext cx="10346055" cy="70961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form = document.querySelector("#todo-form");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input = document.querySelector("#todo-input");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 = document.querySelector("#todo-list");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form.addEventListener("submit", (e) =&gt; {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(!input.value.trim())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 = document.createElement("li");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li.textContent = input.value;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boton = document.createElement("button");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boton.textContent = "Eliminar";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boton.addEventListener("click", () =&gt; li.remove());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li.appendChild(boton);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list.appendChild(li);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input.value = "";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0" y="857250"/>
            <a:ext cx="510159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30 MIN · CONSTRUCCIÓN GUIADA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0" y="1813322"/>
            <a:ext cx="544830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35"/>
              </a:lnSpc>
              <a:buNone/>
            </a:pPr>
            <a:r>
              <a:rPr lang="en-US" sz="4500" spc="-9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list interactiva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382500" y="2655243"/>
            <a:ext cx="5101590" cy="21045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formulario con input y botón. Al enviar, la tarea se agrega a la lista visible en el DOM sin recargar la página. Cada tarea trae su botón para eliminarla.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2382500" y="4969371"/>
            <a:ext cx="5101590" cy="127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trabaja sobre su propio HTML/CSS existente, o sobre uno base si aún no lo tiene.</a:t>
            </a:r>
            <a:endParaRPr lang="en-US" sz="23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RETO DE APLICACIÓN AL PROYECTO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59111"/>
            <a:ext cx="180213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61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 que llamarse “to-do list”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7703"/>
            <a:ext cx="1530477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 esta lógica a algo real de tu emprendimiento: una lista de productos, de pedidos pendientes o de tareas del equipo.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52500" y="5595342"/>
            <a:ext cx="28575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5088731"/>
            <a:ext cx="29432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5595342"/>
            <a:ext cx="129921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5088731"/>
            <a:ext cx="1338186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AL CIERRE DEL BLOQUE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6911578"/>
            <a:ext cx="285750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5938242"/>
            <a:ext cx="294322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4343400" y="6911578"/>
            <a:ext cx="1299210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5938242"/>
            <a:ext cx="13381863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y eliminar tareas funcionando.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" y="8218289"/>
            <a:ext cx="285750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7244953"/>
            <a:ext cx="294322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4343400" y="8218289"/>
            <a:ext cx="12992100" cy="9525"/>
          </a:xfrm>
          <a:prstGeom prst="rect">
            <a:avLst/>
          </a:prstGeom>
          <a:solidFill>
            <a:srgbClr val="E2DCD3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7244953"/>
            <a:ext cx="13381863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anterior más estilos aplicados y validación de input vacío.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52500" y="8551664"/>
            <a:ext cx="294322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Extendido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4343400" y="8551664"/>
            <a:ext cx="13381863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anterior más marcar tarea como completada y editar el texto de una tarea existente.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7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976563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spc="1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ACTIVA DINÁMICA · 10 MIN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3779490"/>
            <a:ext cx="1802130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395"/>
              </a:lnSpc>
              <a:buNone/>
            </a:pPr>
            <a:r>
              <a:rPr lang="en-US" sz="7800" spc="-1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Rompe el código de tu compañero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52500" y="5189190"/>
            <a:ext cx="14716125" cy="150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302"/>
              </a:lnSpc>
              <a:buNone/>
            </a:pPr>
            <a:r>
              <a:rPr lang="en-US" sz="2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parejas: 3 minutos para encontrar un caso que el to-do list del otro no maneja bien — input vacío, tareas duplicadas, espacios en blanco — y proponer en una frase cómo lo arreglarían.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52500" y="7074098"/>
            <a:ext cx="136207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4D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se socializan dos o tres hallazgos en plenaria.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465612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156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30 MIN · EXPLICACIÓN + RETO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4230439"/>
            <a:ext cx="14716125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14"/>
              </a:lnSpc>
              <a:buNone/>
            </a:pPr>
            <a:r>
              <a:rPr lang="en-US" sz="8250" spc="-165" kern="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Asincronía: promesas y async/await</a:t>
            </a:r>
            <a:endParaRPr lang="en-US" sz="8250" dirty="0"/>
          </a:p>
        </p:txBody>
      </p:sp>
      <p:sp>
        <p:nvSpPr>
          <p:cNvPr id="4" name="Shape 2"/>
          <p:cNvSpPr/>
          <p:nvPr/>
        </p:nvSpPr>
        <p:spPr>
          <a:xfrm>
            <a:off x="952500" y="6706939"/>
            <a:ext cx="2095500" cy="114300"/>
          </a:xfrm>
          <a:prstGeom prst="rect">
            <a:avLst/>
          </a:prstGeom>
          <a:solidFill>
            <a:srgbClr val="FF7E08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PREGUNTAS SOCRÁTICAS DE APERTURA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59111"/>
            <a:ext cx="1802130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03"/>
              </a:lnSpc>
              <a:buNone/>
            </a:pPr>
            <a:r>
              <a:rPr lang="en-US" sz="5700" spc="-11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una promesa, en realidad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654647"/>
            <a:ext cx="5232350" cy="28723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3111847"/>
            <a:ext cx="48754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52550" y="3835747"/>
            <a:ext cx="4565218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fetch() no me da el resultado inmediatamente cuando lo llamo?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27750" y="2654647"/>
            <a:ext cx="5232350" cy="28723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927800" y="3111847"/>
            <a:ext cx="48754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927800" y="3835747"/>
            <a:ext cx="4565218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representa una promesa: el dato en sí, o el compromiso de que el dato va a llegar?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03001" y="2654647"/>
            <a:ext cx="5232350" cy="28723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03051" y="3111847"/>
            <a:ext cx="48754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503051" y="3835747"/>
            <a:ext cx="4565218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pasa si intento usar un dato de la API antes de que la promesa se resuelva?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498824"/>
            <a:ext cx="10858500" cy="538445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409700" y="2917924"/>
            <a:ext cx="10269855" cy="458435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obtenerDatos() {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respuesta =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fetch(URL_API);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datos =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respuesta.json();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console.log(datos);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 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(error) {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console.error("Algo falló:", error);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endParaRPr lang="en-US" sz="2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obtenerDatos();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382500" y="2928342"/>
            <a:ext cx="510159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CONSUMO DE API PÚBLICA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0" y="3884414"/>
            <a:ext cx="544830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435"/>
              </a:lnSpc>
              <a:buNone/>
            </a:pPr>
            <a:r>
              <a:rPr lang="en-US" sz="4500" spc="-9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esperas, no una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382500" y="4726335"/>
            <a:ext cx="5101590" cy="1691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await espera la respuesta del servidor. El segundo espera que ese contenido se convierta en objeto de JavaScript.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2382500" y="6627168"/>
            <a:ext cx="510159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56"/>
              </a:lnSpc>
              <a:buNone/>
            </a:pPr>
            <a:r>
              <a:rPr lang="en-US" sz="23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try/catch es lo que evita que la app se rompa cuando la API no responde.</a:t>
            </a:r>
            <a:endParaRPr lang="en-US" sz="23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DIAGNÓSTICO PARA EL MENTOR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06711"/>
            <a:ext cx="180213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61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874764"/>
            <a:ext cx="485775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368153"/>
            <a:ext cx="500348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29350" y="2874764"/>
            <a:ext cx="485775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229350" y="2368153"/>
            <a:ext cx="500348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ESTÁ PASANDO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506200" y="2874764"/>
            <a:ext cx="58293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1506200" y="2368153"/>
            <a:ext cx="6004179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GUIARLO SIN DAR LA RESPUESTA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4096643"/>
            <a:ext cx="485775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122414"/>
            <a:ext cx="500348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42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Olvida el await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6229350" y="4096643"/>
            <a:ext cx="485775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13" name="Text 11"/>
          <p:cNvSpPr/>
          <p:nvPr/>
        </p:nvSpPr>
        <p:spPr>
          <a:xfrm>
            <a:off x="6229350" y="3122414"/>
            <a:ext cx="500348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42"/>
              </a:lnSpc>
              <a:buNone/>
            </a:pPr>
            <a:r>
              <a:rPr lang="en-US" sz="217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 con la promesa en vez del dato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11506200" y="4096643"/>
            <a:ext cx="582930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15" name="Text 13"/>
          <p:cNvSpPr/>
          <p:nvPr/>
        </p:nvSpPr>
        <p:spPr>
          <a:xfrm>
            <a:off x="11506200" y="3122414"/>
            <a:ext cx="600417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“¿Qué te imprime eso en consola: un dato o algo llamado Promise?”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952500" y="5308997"/>
            <a:ext cx="485775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4334768"/>
            <a:ext cx="500348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42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usa try/catch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6229350" y="5308997"/>
            <a:ext cx="485775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19" name="Text 17"/>
          <p:cNvSpPr/>
          <p:nvPr/>
        </p:nvSpPr>
        <p:spPr>
          <a:xfrm>
            <a:off x="6229350" y="4334768"/>
            <a:ext cx="500348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42"/>
              </a:lnSpc>
              <a:buNone/>
            </a:pPr>
            <a:r>
              <a:rPr lang="en-US" sz="217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app se rompe si la API falla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1506200" y="5308997"/>
            <a:ext cx="582930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21" name="Text 19"/>
          <p:cNvSpPr/>
          <p:nvPr/>
        </p:nvSpPr>
        <p:spPr>
          <a:xfrm>
            <a:off x="11506200" y="4334768"/>
            <a:ext cx="600417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“¿Qué pasaría si la API no responde? ¿Cómo se lo mostrarías al usuario?”</a:t>
            </a:r>
            <a:endParaRPr lang="en-US" sz="2175" dirty="0"/>
          </a:p>
        </p:txBody>
      </p:sp>
      <p:sp>
        <p:nvSpPr>
          <p:cNvPr id="22" name="Text 20"/>
          <p:cNvSpPr/>
          <p:nvPr/>
        </p:nvSpPr>
        <p:spPr>
          <a:xfrm>
            <a:off x="952500" y="5547122"/>
            <a:ext cx="500348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42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fetch fuera de una función async</a:t>
            </a:r>
            <a:endParaRPr lang="en-US" sz="2175" dirty="0"/>
          </a:p>
        </p:txBody>
      </p:sp>
      <p:sp>
        <p:nvSpPr>
          <p:cNvPr id="23" name="Text 21"/>
          <p:cNvSpPr/>
          <p:nvPr/>
        </p:nvSpPr>
        <p:spPr>
          <a:xfrm>
            <a:off x="6229350" y="5547122"/>
            <a:ext cx="5003483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42"/>
              </a:lnSpc>
              <a:buNone/>
            </a:pPr>
            <a:r>
              <a:rPr lang="en-US" sz="217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 sintaxis con await</a:t>
            </a:r>
            <a:endParaRPr lang="en-US" sz="2175" dirty="0"/>
          </a:p>
        </p:txBody>
      </p:sp>
      <p:sp>
        <p:nvSpPr>
          <p:cNvPr id="24" name="Text 22"/>
          <p:cNvSpPr/>
          <p:nvPr/>
        </p:nvSpPr>
        <p:spPr>
          <a:xfrm>
            <a:off x="11506200" y="5547122"/>
            <a:ext cx="600417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“¿await puede vivir fuera de una función async?”</a:t>
            </a:r>
            <a:endParaRPr lang="en-US" sz="2175" dirty="0"/>
          </a:p>
        </p:txBody>
      </p:sp>
      <p:sp>
        <p:nvSpPr>
          <p:cNvPr id="25" name="Shape 23"/>
          <p:cNvSpPr/>
          <p:nvPr/>
        </p:nvSpPr>
        <p:spPr>
          <a:xfrm>
            <a:off x="952500" y="7535466"/>
            <a:ext cx="16383000" cy="202763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1409700" y="7916466"/>
            <a:ext cx="1701546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 GUIADO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09700" y="8384977"/>
            <a:ext cx="15932658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325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una API pública relacionada con tu proyecto — clima, países, frases, criptomonedas — y muestra al menos un dato real en el DOM usando lo que construiste en el Bloque 1.</a:t>
            </a:r>
            <a:endParaRPr lang="en-US" sz="23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989487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156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25 MIN · EXPLICACIÓN + DEMO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4754314"/>
            <a:ext cx="1571625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14"/>
              </a:lnSpc>
              <a:buNone/>
            </a:pPr>
            <a:r>
              <a:rPr lang="en-US" sz="8250" spc="-165" kern="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y npm: servidor simple</a:t>
            </a:r>
            <a:endParaRPr lang="en-US" sz="8250" dirty="0"/>
          </a:p>
        </p:txBody>
      </p:sp>
      <p:sp>
        <p:nvSpPr>
          <p:cNvPr id="4" name="Shape 2"/>
          <p:cNvSpPr/>
          <p:nvPr/>
        </p:nvSpPr>
        <p:spPr>
          <a:xfrm>
            <a:off x="952500" y="6183064"/>
            <a:ext cx="2095500" cy="114300"/>
          </a:xfrm>
          <a:prstGeom prst="rect">
            <a:avLst/>
          </a:prstGeom>
          <a:solidFill>
            <a:srgbClr val="FF7E08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7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627709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spc="15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PREGUNTAS SOCRÁTICAS DE APERTURA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3506837"/>
            <a:ext cx="15893415" cy="13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ahora, ¿quién le entregaba el HTML al navegador: un servidor o un archivo local?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5343079"/>
            <a:ext cx="15893415" cy="13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necesita mi computador para poder “ser” un servidor?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7179320"/>
            <a:ext cx="1697355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135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 npm si Node.js ya trae JavaScript?</a:t>
            </a:r>
            <a:endParaRPr lang="en-US" sz="4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DEMO GUIADA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811"/>
            <a:ext cx="18021300" cy="698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923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HTML fijo a HTML generado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952500" y="2348359"/>
            <a:ext cx="878014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Un servidor que responde HTML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952500" y="2918371"/>
            <a:ext cx="7981950" cy="44386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280321"/>
            <a:ext cx="7421308" cy="3752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http = require("http");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servidor = http.createServer((req, res) =&gt; {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res.writeHead(200, { "Content-Type": "text/html" });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res.end("&lt;h1&gt;Hola desde mi servidor Node&lt;/h1&gt;");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servidor.listen(3000, () =&gt; {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console.log("Servidor en http://localhost:3000");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353550" y="2348359"/>
            <a:ext cx="8780145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Extensión: HTML dinámico desde datos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353550" y="2918371"/>
            <a:ext cx="7981950" cy="44386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280321"/>
            <a:ext cx="7421308" cy="3752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productos = ["Camiseta", "Taza", "Gorra"];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servidor = http.createServer((req, res) =&gt; {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items = productos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.map((p) =&gt; `&lt;li&gt;${p}&lt;/li&gt;`)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.join("");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res.writeHead(200, { "Content-Type": "text/html" });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res.end(`&lt;ul&gt;${items}&lt;/ul&gt;`);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53550" y="7528471"/>
            <a:ext cx="8221408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Reto: levanta este servidor y renderiza una lista con datos reales de tu proyecto.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465612"/>
            <a:ext cx="180213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156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35 MIN · EXPLICACIÓN + RETO GUIADO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4230439"/>
            <a:ext cx="14716125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14"/>
              </a:lnSpc>
              <a:buNone/>
            </a:pPr>
            <a:r>
              <a:rPr lang="en-US" sz="8250" spc="-165" kern="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Express: rutas, middleware y JSON</a:t>
            </a:r>
            <a:endParaRPr lang="en-US" sz="8250" dirty="0"/>
          </a:p>
        </p:txBody>
      </p:sp>
      <p:sp>
        <p:nvSpPr>
          <p:cNvPr id="4" name="Shape 2"/>
          <p:cNvSpPr/>
          <p:nvPr/>
        </p:nvSpPr>
        <p:spPr>
          <a:xfrm>
            <a:off x="952500" y="6706939"/>
            <a:ext cx="2095500" cy="114300"/>
          </a:xfrm>
          <a:prstGeom prst="rect">
            <a:avLst/>
          </a:prstGeom>
          <a:solidFill>
            <a:srgbClr val="FF7E08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PREGUNTAS SOCRÁTICAS DE APERTURA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59111"/>
            <a:ext cx="1802130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03"/>
              </a:lnSpc>
              <a:buNone/>
            </a:pPr>
            <a:r>
              <a:rPr lang="en-US" sz="5700" spc="-11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instalar nada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654647"/>
            <a:ext cx="5232350" cy="28723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3111847"/>
            <a:ext cx="48754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52550" y="3835747"/>
            <a:ext cx="4565218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te resultó incómodo o repetitivo al manejar rutas “a mano” con http nativo?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27750" y="2654647"/>
            <a:ext cx="5232350" cy="28723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927800" y="3111847"/>
            <a:ext cx="48754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927800" y="3835747"/>
            <a:ext cx="4565218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middleware, en tus palabras: algo que corre antes o después de responder?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03001" y="2654647"/>
            <a:ext cx="5232350" cy="28723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503051" y="3111847"/>
            <a:ext cx="487547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667"/>
              </a:lnSpc>
              <a:buNone/>
            </a:pPr>
            <a:r>
              <a:rPr lang="en-US" sz="39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503051" y="3835747"/>
            <a:ext cx="4565218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¿En qué se diferencia responder HTML de responder JSON?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857250"/>
            <a:ext cx="11239500" cy="85629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238250"/>
            <a:ext cx="10738485" cy="78390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express = require("express");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= express();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E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leer JSON del body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tareas = [];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app.get("/api/tareas", (req, res) =&gt; {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res.json(tareas);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app.post("/api/tareas", (req, res) =&gt; {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FF7E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nueva = { id: Date.now(), texto: req.body.texto };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tareas.push(nueva);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res.status(201).json(nueva);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app.delete("/api/tareas/:id", (req, res) =&gt; {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tareas = tareas.filter((t) =&gt; t.id !== Number(req.params.id));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res.status(204).send();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FEAE4"/>
                </a:solidFill>
                <a:highlight>
                  <a:srgbClr val="0000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app.listen(3000);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763500" y="857250"/>
            <a:ext cx="4709160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SERVIDOR EXPRESS BÁSICO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763500" y="1794272"/>
            <a:ext cx="4709160" cy="1147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función por ruta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763500" y="3132237"/>
            <a:ext cx="470916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29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comparar req.url a mano y sin definir Content-Type: res.json() lo resuelve.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2763500" y="4560987"/>
            <a:ext cx="4572000" cy="1817191"/>
          </a:xfrm>
          <a:prstGeom prst="rect">
            <a:avLst/>
          </a:prstGeom>
          <a:solidFill>
            <a:srgbClr val="EFEAE4"/>
          </a:solidFill>
          <a:ln/>
        </p:spPr>
      </p:sp>
      <p:sp>
        <p:nvSpPr>
          <p:cNvPr id="8" name="Text 6"/>
          <p:cNvSpPr/>
          <p:nvPr/>
        </p:nvSpPr>
        <p:spPr>
          <a:xfrm>
            <a:off x="13125450" y="4884837"/>
            <a:ext cx="423291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 CREATED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25450" y="5334298"/>
            <a:ext cx="3963543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crear un recurso nuevo, no 200.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763500" y="6606778"/>
            <a:ext cx="4572000" cy="181719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3125450" y="6930628"/>
            <a:ext cx="423291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 NO CONTENT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125450" y="7380089"/>
            <a:ext cx="3963543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210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eliminó bien y no hay nada que devolver.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RETO INTEGRADOR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59111"/>
            <a:ext cx="1802130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561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API REST de tu proyecto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7703"/>
            <a:ext cx="1530477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GET y POST como mínimo, usando el mismo array de datos que ya usaste en el Bloque 3.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52500" y="5595342"/>
            <a:ext cx="28575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5088731"/>
            <a:ext cx="29432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5595342"/>
            <a:ext cx="12992100" cy="190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5088731"/>
            <a:ext cx="13381863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AL CIERRE DEL BLOQUE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6911578"/>
            <a:ext cx="285750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5938242"/>
            <a:ext cx="294322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4343400" y="6911578"/>
            <a:ext cx="1299210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5938242"/>
            <a:ext cx="13381863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 POST funcionando y probados con Postman, Thunder Client o el navegador.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" y="8218289"/>
            <a:ext cx="285750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7244953"/>
            <a:ext cx="294322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4343400" y="8218289"/>
            <a:ext cx="1299210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7244953"/>
            <a:ext cx="13381863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anterior más status codes correctos: 201 al crear, 404 si no existe.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52500" y="8551664"/>
            <a:ext cx="294322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Extendido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4343400" y="8551664"/>
            <a:ext cx="13381863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anterior más PUT y DELETE completos: el CRUD entero.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· 10 MIN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811"/>
            <a:ext cx="1802130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03"/>
              </a:lnSpc>
              <a:buNone/>
            </a:pPr>
            <a:r>
              <a:rPr lang="en-US" sz="5700" spc="-114" kern="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construiste hoy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464147"/>
            <a:ext cx="5257800" cy="3160812"/>
          </a:xfrm>
          <a:prstGeom prst="rect">
            <a:avLst/>
          </a:prstGeom>
          <a:solidFill>
            <a:srgbClr val="EFEAE4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883247"/>
            <a:ext cx="49453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3408908"/>
            <a:ext cx="494538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250"/>
              </a:lnSpc>
              <a:buNone/>
            </a:pPr>
            <a:r>
              <a:rPr lang="en-US" sz="3150" spc="-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frontend interactivo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333500" y="4020294"/>
            <a:ext cx="4630674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Formularios y DOM sin recargar la página.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6515100" y="2464147"/>
            <a:ext cx="5257800" cy="3160812"/>
          </a:xfrm>
          <a:prstGeom prst="rect">
            <a:avLst/>
          </a:prstGeom>
          <a:solidFill>
            <a:srgbClr val="EFEAE4"/>
          </a:solidFill>
          <a:ln/>
        </p:spPr>
      </p:sp>
      <p:sp>
        <p:nvSpPr>
          <p:cNvPr id="9" name="Text 7"/>
          <p:cNvSpPr/>
          <p:nvPr/>
        </p:nvSpPr>
        <p:spPr>
          <a:xfrm>
            <a:off x="6896100" y="2883247"/>
            <a:ext cx="49453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96100" y="3408908"/>
            <a:ext cx="494538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250"/>
              </a:lnSpc>
              <a:buNone/>
            </a:pPr>
            <a:r>
              <a:rPr lang="en-US" sz="3150" spc="-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externos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896100" y="4020294"/>
            <a:ext cx="4630674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de una API pública con async/await.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2077700" y="2464147"/>
            <a:ext cx="5257800" cy="3160812"/>
          </a:xfrm>
          <a:prstGeom prst="rect">
            <a:avLst/>
          </a:prstGeom>
          <a:solidFill>
            <a:srgbClr val="FF7E08"/>
          </a:solidFill>
          <a:ln/>
        </p:spPr>
      </p:sp>
      <p:sp>
        <p:nvSpPr>
          <p:cNvPr id="13" name="Text 11"/>
          <p:cNvSpPr/>
          <p:nvPr/>
        </p:nvSpPr>
        <p:spPr>
          <a:xfrm>
            <a:off x="12458700" y="2883247"/>
            <a:ext cx="49453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4D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BLOQUES 3 Y 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58700" y="3408908"/>
            <a:ext cx="4630674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250"/>
              </a:lnSpc>
              <a:buNone/>
            </a:pPr>
            <a:r>
              <a:rPr lang="en-US" sz="3150" spc="-63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propios datos servidos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2458700" y="4460230"/>
            <a:ext cx="4630674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36"/>
              </a:lnSpc>
              <a:buNone/>
            </a:pPr>
            <a:r>
              <a:rPr lang="en-US" sz="21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servidor Node y una API REST propia.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952500" y="6005959"/>
            <a:ext cx="15893415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579"/>
              </a:lnSpc>
              <a:buNone/>
            </a:pPr>
            <a:r>
              <a:rPr lang="en-US" sz="2475" dirty="0">
                <a:solidFill>
                  <a:srgbClr val="B8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próximas semanas vas a conectar todo esto a una base de datos real (MongoDB) para que los datos no se pierdan al reiniciar el servidor.</a:t>
            </a:r>
            <a:endParaRPr lang="en-US" sz="2475" dirty="0"/>
          </a:p>
        </p:txBody>
      </p:sp>
      <p:sp>
        <p:nvSpPr>
          <p:cNvPr id="17" name="Shape 15"/>
          <p:cNvSpPr/>
          <p:nvPr/>
        </p:nvSpPr>
        <p:spPr>
          <a:xfrm>
            <a:off x="952500" y="7595592"/>
            <a:ext cx="16383000" cy="9525"/>
          </a:xfrm>
          <a:prstGeom prst="rect">
            <a:avLst/>
          </a:prstGeom>
          <a:solidFill>
            <a:srgbClr val="443E35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7948017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FF7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CIERRE PARA LA PLENARIA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500" y="8435578"/>
            <a:ext cx="15893415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3900" spc="-78" kern="0" dirty="0">
                <a:solidFill>
                  <a:srgbClr val="EF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parte de tu proyecto ya podrías mover de datos falsos a una API real construida por ti?</a:t>
            </a:r>
            <a:endParaRPr lang="en-US" sz="3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8E8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LA PRÓXIMA SESIÓN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59111"/>
            <a:ext cx="18021300" cy="7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03"/>
              </a:lnSpc>
              <a:buNone/>
            </a:pPr>
            <a:r>
              <a:rPr lang="en-US" sz="5700" spc="-11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 autónoma sugerida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2654647"/>
            <a:ext cx="57150" cy="462855"/>
          </a:xfrm>
          <a:prstGeom prst="rect">
            <a:avLst/>
          </a:prstGeom>
          <a:solidFill>
            <a:srgbClr val="FF7E08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2654647"/>
            <a:ext cx="176593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Terminar el nivel “medio” de cada bloque si no alcanzó en sesión.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52500" y="3403253"/>
            <a:ext cx="57150" cy="925711"/>
          </a:xfrm>
          <a:prstGeom prst="rect">
            <a:avLst/>
          </a:prstGeom>
          <a:solidFill>
            <a:srgbClr val="B8A894"/>
          </a:solidFill>
          <a:ln/>
        </p:spPr>
      </p:sp>
      <p:sp>
        <p:nvSpPr>
          <p:cNvPr id="7" name="Text 5"/>
          <p:cNvSpPr/>
          <p:nvPr/>
        </p:nvSpPr>
        <p:spPr>
          <a:xfrm>
            <a:off x="1314450" y="3403253"/>
            <a:ext cx="16512540" cy="963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714"/>
              </a:lnSpc>
              <a:buNone/>
            </a:pPr>
            <a:r>
              <a:rPr lang="en-US" sz="2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en la documentación de Express qué otros métodos HTTP existen además de GET, POST y DELETE.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52500" y="8362950"/>
            <a:ext cx="16383000" cy="9525"/>
          </a:xfrm>
          <a:prstGeom prst="rect">
            <a:avLst/>
          </a:prstGeom>
          <a:solidFill>
            <a:srgbClr val="CFC7BB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8753475"/>
            <a:ext cx="981075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250" dirty="0">
                <a:solidFill>
                  <a:srgbClr val="685F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parada: conectar esta misma API a MongoDB para que los datos persistan.</a:t>
            </a:r>
            <a:endParaRPr lang="en-US" sz="2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0509" y="9067800"/>
            <a:ext cx="1594991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2026-09-04T15:44:24Z</dcterms:created>
  <dcterms:modified xsi:type="dcterms:W3CDTF">2026-09-04T15:44:24Z</dcterms:modified>
</cp:coreProperties>
</file>